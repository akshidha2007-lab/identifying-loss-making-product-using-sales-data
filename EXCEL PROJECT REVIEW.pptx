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0FA5D-C70E-4E1B-9466-084086AE502E}" v="3" dt="2026-10-26T23:01:01.5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dha S" userId="2064745ff8a9fd89" providerId="LiveId" clId="{7165BEFC-6165-47FA-8757-D851393C1F71}"/>
    <pc:docChg chg="undo custSel addSld modSld">
      <pc:chgData name="Akshidha S" userId="2064745ff8a9fd89" providerId="LiveId" clId="{7165BEFC-6165-47FA-8757-D851393C1F71}" dt="2026-10-26T23:01:43.737" v="259" actId="1076"/>
      <pc:docMkLst>
        <pc:docMk/>
      </pc:docMkLst>
      <pc:sldChg chg="modSp mod">
        <pc:chgData name="Akshidha S" userId="2064745ff8a9fd89" providerId="LiveId" clId="{7165BEFC-6165-47FA-8757-D851393C1F71}" dt="2026-10-26T22:47:58.556" v="198" actId="1076"/>
        <pc:sldMkLst>
          <pc:docMk/>
          <pc:sldMk cId="3213953725" sldId="256"/>
        </pc:sldMkLst>
        <pc:spChg chg="mod">
          <ac:chgData name="Akshidha S" userId="2064745ff8a9fd89" providerId="LiveId" clId="{7165BEFC-6165-47FA-8757-D851393C1F71}" dt="2026-10-26T22:47:10.104" v="164" actId="14100"/>
          <ac:spMkLst>
            <pc:docMk/>
            <pc:sldMk cId="3213953725" sldId="256"/>
            <ac:spMk id="2" creationId="{0FBC98FC-1743-BF01-FAA6-4F636BB1E5CD}"/>
          </ac:spMkLst>
        </pc:spChg>
        <pc:spChg chg="mod">
          <ac:chgData name="Akshidha S" userId="2064745ff8a9fd89" providerId="LiveId" clId="{7165BEFC-6165-47FA-8757-D851393C1F71}" dt="2026-10-26T22:47:58.556" v="198" actId="1076"/>
          <ac:spMkLst>
            <pc:docMk/>
            <pc:sldMk cId="3213953725" sldId="256"/>
            <ac:spMk id="3" creationId="{47B19624-1E64-8E06-D4AC-6E12A752053A}"/>
          </ac:spMkLst>
        </pc:spChg>
      </pc:sldChg>
      <pc:sldChg chg="modSp mod">
        <pc:chgData name="Akshidha S" userId="2064745ff8a9fd89" providerId="LiveId" clId="{7165BEFC-6165-47FA-8757-D851393C1F71}" dt="2026-10-26T22:52:51.234" v="200" actId="20577"/>
        <pc:sldMkLst>
          <pc:docMk/>
          <pc:sldMk cId="2916948130" sldId="261"/>
        </pc:sldMkLst>
        <pc:spChg chg="mod">
          <ac:chgData name="Akshidha S" userId="2064745ff8a9fd89" providerId="LiveId" clId="{7165BEFC-6165-47FA-8757-D851393C1F71}" dt="2026-10-26T22:52:51.234" v="200" actId="20577"/>
          <ac:spMkLst>
            <pc:docMk/>
            <pc:sldMk cId="2916948130" sldId="261"/>
            <ac:spMk id="3" creationId="{B4E3F417-0143-C472-FB3E-BB2BDC7D54B1}"/>
          </ac:spMkLst>
        </pc:spChg>
      </pc:sldChg>
      <pc:sldChg chg="addSp delSp modSp mod">
        <pc:chgData name="Akshidha S" userId="2064745ff8a9fd89" providerId="LiveId" clId="{7165BEFC-6165-47FA-8757-D851393C1F71}" dt="2026-10-26T13:47:26.933" v="162" actId="14100"/>
        <pc:sldMkLst>
          <pc:docMk/>
          <pc:sldMk cId="1295654510" sldId="262"/>
        </pc:sldMkLst>
        <pc:spChg chg="mod">
          <ac:chgData name="Akshidha S" userId="2064745ff8a9fd89" providerId="LiveId" clId="{7165BEFC-6165-47FA-8757-D851393C1F71}" dt="2026-10-26T13:40:24.685" v="119" actId="14100"/>
          <ac:spMkLst>
            <pc:docMk/>
            <pc:sldMk cId="1295654510" sldId="262"/>
            <ac:spMk id="2" creationId="{7C3B5C20-6950-6809-6E16-40C9E018CA33}"/>
          </ac:spMkLst>
        </pc:spChg>
        <pc:spChg chg="mod">
          <ac:chgData name="Akshidha S" userId="2064745ff8a9fd89" providerId="LiveId" clId="{7165BEFC-6165-47FA-8757-D851393C1F71}" dt="2026-10-26T13:47:06.395" v="158" actId="27636"/>
          <ac:spMkLst>
            <pc:docMk/>
            <pc:sldMk cId="1295654510" sldId="262"/>
            <ac:spMk id="3" creationId="{D360FD54-1FD0-13CD-24AD-552F30949747}"/>
          </ac:spMkLst>
        </pc:spChg>
        <pc:spChg chg="add del mod">
          <ac:chgData name="Akshidha S" userId="2064745ff8a9fd89" providerId="LiveId" clId="{7165BEFC-6165-47FA-8757-D851393C1F71}" dt="2026-10-26T13:41:14.480" v="142"/>
          <ac:spMkLst>
            <pc:docMk/>
            <pc:sldMk cId="1295654510" sldId="262"/>
            <ac:spMk id="4" creationId="{69579784-6B1A-390B-A47C-93CDD5C83D7D}"/>
          </ac:spMkLst>
        </pc:spChg>
        <pc:picChg chg="add mod">
          <ac:chgData name="Akshidha S" userId="2064745ff8a9fd89" providerId="LiveId" clId="{7165BEFC-6165-47FA-8757-D851393C1F71}" dt="2026-10-26T13:47:26.933" v="162" actId="14100"/>
          <ac:picMkLst>
            <pc:docMk/>
            <pc:sldMk cId="1295654510" sldId="262"/>
            <ac:picMk id="6" creationId="{556FFADF-19BE-19EF-115E-7EE9DB091B99}"/>
          </ac:picMkLst>
        </pc:picChg>
      </pc:sldChg>
      <pc:sldChg chg="modSp mod">
        <pc:chgData name="Akshidha S" userId="2064745ff8a9fd89" providerId="LiveId" clId="{7165BEFC-6165-47FA-8757-D851393C1F71}" dt="2026-10-26T22:57:02.628" v="201" actId="20577"/>
        <pc:sldMkLst>
          <pc:docMk/>
          <pc:sldMk cId="2290005576" sldId="265"/>
        </pc:sldMkLst>
        <pc:spChg chg="mod">
          <ac:chgData name="Akshidha S" userId="2064745ff8a9fd89" providerId="LiveId" clId="{7165BEFC-6165-47FA-8757-D851393C1F71}" dt="2026-10-26T22:57:02.628" v="201" actId="20577"/>
          <ac:spMkLst>
            <pc:docMk/>
            <pc:sldMk cId="2290005576" sldId="265"/>
            <ac:spMk id="3" creationId="{99B654E0-BAE9-4EB1-8B59-A5CC2E30C00D}"/>
          </ac:spMkLst>
        </pc:spChg>
      </pc:sldChg>
      <pc:sldChg chg="addSp delSp modSp new mod setBg">
        <pc:chgData name="Akshidha S" userId="2064745ff8a9fd89" providerId="LiveId" clId="{7165BEFC-6165-47FA-8757-D851393C1F71}" dt="2026-10-26T23:01:43.737" v="259" actId="1076"/>
        <pc:sldMkLst>
          <pc:docMk/>
          <pc:sldMk cId="2728143229" sldId="266"/>
        </pc:sldMkLst>
        <pc:spChg chg="mod">
          <ac:chgData name="Akshidha S" userId="2064745ff8a9fd89" providerId="LiveId" clId="{7165BEFC-6165-47FA-8757-D851393C1F71}" dt="2026-10-26T23:01:43.737" v="259" actId="1076"/>
          <ac:spMkLst>
            <pc:docMk/>
            <pc:sldMk cId="2728143229" sldId="266"/>
            <ac:spMk id="2" creationId="{B0BDBD89-3074-43EE-4765-BFE7997F87F1}"/>
          </ac:spMkLst>
        </pc:spChg>
        <pc:spChg chg="del">
          <ac:chgData name="Akshidha S" userId="2064745ff8a9fd89" providerId="LiveId" clId="{7165BEFC-6165-47FA-8757-D851393C1F71}" dt="2026-10-26T22:59:09.556" v="203" actId="21"/>
          <ac:spMkLst>
            <pc:docMk/>
            <pc:sldMk cId="2728143229" sldId="266"/>
            <ac:spMk id="3" creationId="{3E55BA89-4BFD-1262-58E8-AB59880AE626}"/>
          </ac:spMkLst>
        </pc:spChg>
        <pc:spChg chg="add del mod">
          <ac:chgData name="Akshidha S" userId="2064745ff8a9fd89" providerId="LiveId" clId="{7165BEFC-6165-47FA-8757-D851393C1F71}" dt="2026-10-26T23:00:12.257" v="234"/>
          <ac:spMkLst>
            <pc:docMk/>
            <pc:sldMk cId="2728143229" sldId="266"/>
            <ac:spMk id="4" creationId="{249C37CA-8101-C149-0742-D2B33F4E09E8}"/>
          </ac:spMkLst>
        </pc:spChg>
        <pc:spChg chg="add del mod">
          <ac:chgData name="Akshidha S" userId="2064745ff8a9fd89" providerId="LiveId" clId="{7165BEFC-6165-47FA-8757-D851393C1F71}" dt="2026-10-26T23:01:15.887" v="247"/>
          <ac:spMkLst>
            <pc:docMk/>
            <pc:sldMk cId="2728143229" sldId="266"/>
            <ac:spMk id="5" creationId="{D6D48820-1C68-8511-0B40-3B382D0CA255}"/>
          </ac:spMkLst>
        </pc:spChg>
        <pc:spChg chg="add del">
          <ac:chgData name="Akshidha S" userId="2064745ff8a9fd89" providerId="LiveId" clId="{7165BEFC-6165-47FA-8757-D851393C1F71}" dt="2026-10-26T23:00:54.250" v="242" actId="26606"/>
          <ac:spMkLst>
            <pc:docMk/>
            <pc:sldMk cId="2728143229" sldId="266"/>
            <ac:spMk id="21" creationId="{5A7802B6-FF37-40CF-A7E2-6F2A0D9A91EF}"/>
          </ac:spMkLst>
        </pc:spChg>
        <pc:grpChg chg="add del">
          <ac:chgData name="Akshidha S" userId="2064745ff8a9fd89" providerId="LiveId" clId="{7165BEFC-6165-47FA-8757-D851393C1F71}" dt="2026-10-26T23:00:54.250" v="242" actId="26606"/>
          <ac:grpSpMkLst>
            <pc:docMk/>
            <pc:sldMk cId="2728143229" sldId="266"/>
            <ac:grpSpMk id="9" creationId="{B4DE830A-B531-4A3B-96F6-0ECE88B08555}"/>
          </ac:grpSpMkLst>
        </pc:grpChg>
        <pc:grpChg chg="add">
          <ac:chgData name="Akshidha S" userId="2064745ff8a9fd89" providerId="LiveId" clId="{7165BEFC-6165-47FA-8757-D851393C1F71}" dt="2026-10-26T23:00:54.250" v="242" actId="26606"/>
          <ac:grpSpMkLst>
            <pc:docMk/>
            <pc:sldMk cId="2728143229" sldId="266"/>
            <ac:grpSpMk id="26" creationId="{B4DE830A-B531-4A3B-96F6-0ECE88B08555}"/>
          </ac:grpSpMkLst>
        </pc:grpChg>
        <pc:picChg chg="add mod">
          <ac:chgData name="Akshidha S" userId="2064745ff8a9fd89" providerId="LiveId" clId="{7165BEFC-6165-47FA-8757-D851393C1F71}" dt="2026-10-26T23:01:19.953" v="248" actId="14100"/>
          <ac:picMkLst>
            <pc:docMk/>
            <pc:sldMk cId="2728143229" sldId="266"/>
            <ac:picMk id="6" creationId="{40BF390D-7AAA-F150-FBE7-FA7AF214FED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C98FC-1743-BF01-FAA6-4F636BB1E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6288" y="1577221"/>
            <a:ext cx="7585023" cy="1312133"/>
          </a:xfrm>
        </p:spPr>
        <p:txBody>
          <a:bodyPr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LOSS-MAKING PRODUCTS USING SALES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19624-1E64-8E06-D4AC-6E12A7520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7856" y="3968645"/>
            <a:ext cx="4847443" cy="1851779"/>
          </a:xfrm>
        </p:spPr>
        <p:txBody>
          <a:bodyPr>
            <a:normAutofit fontScale="92500" lnSpcReduction="20000"/>
          </a:bodyPr>
          <a:lstStyle/>
          <a:p>
            <a:pPr algn="ctr"/>
            <a:endParaRPr lang="en-IN" dirty="0"/>
          </a:p>
          <a:p>
            <a:pPr algn="ctr"/>
            <a:r>
              <a:rPr lang="en-I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I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S. Akshidha</a:t>
            </a:r>
          </a:p>
          <a:p>
            <a:pPr algn="ctr"/>
            <a:r>
              <a:rPr lang="en-I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B.Sc. Mathematics</a:t>
            </a:r>
          </a:p>
        </p:txBody>
      </p:sp>
    </p:spTree>
    <p:extLst>
      <p:ext uri="{BB962C8B-B14F-4D97-AF65-F5344CB8AC3E}">
        <p14:creationId xmlns:p14="http://schemas.microsoft.com/office/powerpoint/2010/main" val="3213953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98F7-B87F-53C3-A773-82FCEFDE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454" y="498853"/>
            <a:ext cx="4074548" cy="754505"/>
          </a:xfrm>
        </p:spPr>
        <p:txBody>
          <a:bodyPr>
            <a:normAutofit fontScale="90000"/>
          </a:bodyPr>
          <a:lstStyle/>
          <a:p>
            <a:pPr>
              <a:buClr>
                <a:schemeClr val="accent1"/>
              </a:buClr>
              <a:buSzPct val="800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5085-D36E-7EDB-0FE8-C4EE4C227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089" y="1439056"/>
            <a:ext cx="7582245" cy="4766871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revenue alone does not indicate the actual profitability of a business.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costs, discounts, and shipping expenses affect profit.</a:t>
            </a:r>
          </a:p>
          <a:p>
            <a:pPr lvl="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needs to identify areas with low or negative profit.</a:t>
            </a:r>
          </a:p>
          <a:p>
            <a:pPr lvl="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Product, regional, and monthly performance must be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effective way to summarize sales and profit data is required.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65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8C12-38D3-C307-D789-F4EBA37A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868" y="584616"/>
            <a:ext cx="3729774" cy="794479"/>
          </a:xfrm>
        </p:spPr>
        <p:txBody>
          <a:bodyPr>
            <a:normAutofit fontScale="90000"/>
          </a:bodyPr>
          <a:lstStyle/>
          <a:p>
            <a:pPr>
              <a:buClr>
                <a:schemeClr val="accent1"/>
              </a:buClr>
              <a:buSzPct val="800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D47A6-D736-8167-0280-EF77F9443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773" y="1720961"/>
            <a:ext cx="7117552" cy="3915341"/>
          </a:xfrm>
        </p:spPr>
        <p:txBody>
          <a:bodyPr/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revenue and profit across products.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business performance across regions.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examine monthly profit trends.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relationship between discount levels and profit.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negative-profit transactions.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interactive Excel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62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1C70B-44BE-0401-1F6E-7EE7D9CE5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274" y="337279"/>
            <a:ext cx="4694055" cy="679554"/>
          </a:xfrm>
        </p:spPr>
        <p:txBody>
          <a:bodyPr>
            <a:normAutofit fontScale="90000"/>
          </a:bodyPr>
          <a:lstStyle/>
          <a:p>
            <a:pPr>
              <a:buClr>
                <a:schemeClr val="accent1"/>
              </a:buClr>
              <a:buSzPct val="800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8395C-35A4-1144-13C1-0AA33E2F9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196" y="1204210"/>
            <a:ext cx="8301774" cy="5016708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6,000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January–December 2025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Retail sales data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Excel 365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Fields: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Date, Product Name, Category, Region, Quantity, Unit Cost, Discount Percentage, Revenue, Shipping and Other Costs, Profit/Loss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702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54C7-2B86-D2D0-DCC1-ED1E989A7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744" y="269823"/>
            <a:ext cx="6742797" cy="82695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Identified and Solutions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F864C23-0529-221C-B08B-09F81F810D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0541576"/>
              </p:ext>
            </p:extLst>
          </p:nvPr>
        </p:nvGraphicFramePr>
        <p:xfrm>
          <a:off x="557412" y="1379095"/>
          <a:ext cx="8811440" cy="4676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6952">
                  <a:extLst>
                    <a:ext uri="{9D8B030D-6E8A-4147-A177-3AD203B41FA5}">
                      <a16:colId xmlns:a16="http://schemas.microsoft.com/office/drawing/2014/main" val="1883615500"/>
                    </a:ext>
                  </a:extLst>
                </a:gridCol>
                <a:gridCol w="3974488">
                  <a:extLst>
                    <a:ext uri="{9D8B030D-6E8A-4147-A177-3AD203B41FA5}">
                      <a16:colId xmlns:a16="http://schemas.microsoft.com/office/drawing/2014/main" val="1830091503"/>
                    </a:ext>
                  </a:extLst>
                </a:gridCol>
              </a:tblGrid>
              <a:tr h="461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Problem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5004141"/>
                  </a:ext>
                </a:extLst>
              </a:tr>
              <a:tr h="75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 alone does not show profitability.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both revenue and profit.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5915708"/>
                  </a:ext>
                </a:extLst>
              </a:tr>
              <a:tr h="761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performance is difficult to compare.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product-wise PivotTables and charts.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6683"/>
                  </a:ext>
                </a:extLst>
              </a:tr>
              <a:tr h="75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Regional performance is unclear.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revenue and profit by region.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867111"/>
                  </a:ext>
                </a:extLst>
              </a:tr>
              <a:tr h="75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 profit changes are difficult to track.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monthly trend analysis.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2643917"/>
                  </a:ext>
                </a:extLst>
              </a:tr>
              <a:tr h="434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Discounts may affect profitability.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profit across discount levels.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845847"/>
                  </a:ext>
                </a:extLst>
              </a:tr>
              <a:tr h="761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Negative-profit transactions need investigation.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Examined transactions containing negative profit values.</a:t>
                      </a:r>
                    </a:p>
                  </a:txBody>
                  <a:tcPr marL="90266" marR="90266" marT="45133" marB="451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0021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269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72B1-9821-0A7C-0139-3D79FC90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099" y="219856"/>
            <a:ext cx="3175138" cy="784485"/>
          </a:xfrm>
        </p:spPr>
        <p:txBody>
          <a:bodyPr>
            <a:normAutofit fontScale="90000"/>
          </a:bodyPr>
          <a:lstStyle/>
          <a:p>
            <a:pPr>
              <a:buClr>
                <a:schemeClr val="accent1"/>
              </a:buClr>
              <a:buSzPct val="800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3F417-0143-C472-FB3E-BB2BDC7D5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04341"/>
            <a:ext cx="8596668" cy="4961744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and organized retail sales data.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the records into one worksheet.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revenue, costs, discounts, and profit/loss values.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Pivot Tables to summarize the data.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Pivot Charts to visualize the results.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slicers for interactive filtering.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 Excel dashboard to present key findings.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Profit/Loss Formula: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Profit/Loss = Revenue − Total Product Cost − Shipping and Other Costs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694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5C20-6950-6809-6E16-40C9E018C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553" y="187376"/>
            <a:ext cx="3489932" cy="517162"/>
          </a:xfrm>
        </p:spPr>
        <p:txBody>
          <a:bodyPr>
            <a:normAutofit fontScale="90000"/>
          </a:bodyPr>
          <a:lstStyle/>
          <a:p>
            <a:pPr>
              <a:buClr>
                <a:schemeClr val="accent1"/>
              </a:buClr>
              <a:buSzPct val="800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0FD54-1FD0-13CD-24AD-552F30949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7" y="809469"/>
            <a:ext cx="8709285" cy="58611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Sales and Profitability Dashboard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Dashboard Components: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Revenue, Total Profit, Product Analysis, Regional Analysis, Monthly Profit Trends, Discount Analysis, Interactive Slicers</a:t>
            </a:r>
          </a:p>
          <a:p>
            <a:pPr marL="400050" lvl="1" indent="0" algn="just">
              <a:buNone/>
            </a:pP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FFADF-19BE-19EF-115E-7EE9DB091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86" y="1379096"/>
            <a:ext cx="8469443" cy="329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5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E367-0E9C-5DE9-ED4E-E141E28D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389" y="202367"/>
            <a:ext cx="5108869" cy="659567"/>
          </a:xfrm>
        </p:spPr>
        <p:txBody>
          <a:bodyPr>
            <a:normAutofit fontScale="90000"/>
          </a:bodyPr>
          <a:lstStyle/>
          <a:p>
            <a:pPr>
              <a:buClr>
                <a:schemeClr val="accent1"/>
              </a:buClr>
              <a:buSzPct val="800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and Insights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C2556-D2A0-F7FB-D33C-A7D45C3B7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196" y="974359"/>
            <a:ext cx="8181853" cy="5681274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Product Performance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Headphones recorded the highest revenue of ₹16,78,903.16.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Headphones recorded the highest profit of ₹2,62,890.50 among the listed products.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Regional Performance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recorded the highest revenue of ₹15,28,512.24.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recorded the highest profit of ₹2,48,127.37.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Monthly Performance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recorded the highest monthly profit of ₹1,11,528.76.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recorded the lowest monthly profit of ₹88,233.18.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Discount Analysis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25% discount group recorded a negative total profit of ₹4,035.09.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between discounts and other costs requires further investigation.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Loss-Making Products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individual transactions contain negative profit values.</a:t>
            </a: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product-level PivotTable shows positive total profit for all 15 listed products.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1256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6E33-7288-0C47-35D9-FEC9FA55F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888" y="517160"/>
            <a:ext cx="3534902" cy="659567"/>
          </a:xfrm>
        </p:spPr>
        <p:txBody>
          <a:bodyPr>
            <a:normAutofit fontScale="90000"/>
          </a:bodyPr>
          <a:lstStyle/>
          <a:p>
            <a:pPr>
              <a:buClr>
                <a:schemeClr val="accent1"/>
              </a:buClr>
              <a:buSzPct val="800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9CE2-E3E3-6C94-F47C-1FB037F71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422" y="1451055"/>
            <a:ext cx="8596668" cy="4560001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the costs and selling prices of negative-profit transactions.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the products and costs contributing to losses in the 25% discount group.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discount strategies to protect profitability.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monthly profit regularly.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product profit margins, not just revenue.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product-level loss analysis to identify products that consistently generate losses.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856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8C72-8BD6-0A7F-8408-5B6BB3DF3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521" y="254832"/>
            <a:ext cx="2525479" cy="554637"/>
          </a:xfrm>
        </p:spPr>
        <p:txBody>
          <a:bodyPr>
            <a:normAutofit fontScale="90000"/>
          </a:bodyPr>
          <a:lstStyle/>
          <a:p>
            <a:pPr>
              <a:buClr>
                <a:schemeClr val="accent1"/>
              </a:buClr>
              <a:buSzPct val="80000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654E0-BAE9-4EB1-8B59-A5CC2E30C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01" y="956871"/>
            <a:ext cx="8746569" cy="5503889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6,000 retail sales records using Microsoft Excel 365.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Tables and charts helped summarize sales and profitability.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Headphones was the strongest product by total revenue and profit among the listed products.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was the strongest region by total revenue and profit.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had the highest monthly profit, while November had the lowest.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25% discount group recorded a negative total profit.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useful insights to support business decisions.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analysis helps the business understand sales and profit patterns and identify areas requiring further investigation.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005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BDBD89-3074-43EE-4765-BFE7997F8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15" y="4064634"/>
            <a:ext cx="8288032" cy="101703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br>
              <a:rPr lang="en-US" sz="34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n-US" sz="49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!!!</a:t>
            </a:r>
            <a:endParaRPr lang="en-US" sz="3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40BF390D-7AAA-F150-FBE7-FA7AF214FE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80259" y="934222"/>
            <a:ext cx="3299450" cy="274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1432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682</Words>
  <Application>Microsoft Office PowerPoint</Application>
  <PresentationFormat>Widescreen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Times New Roman</vt:lpstr>
      <vt:lpstr>Trebuchet MS</vt:lpstr>
      <vt:lpstr>Wingdings</vt:lpstr>
      <vt:lpstr>Wingdings 3</vt:lpstr>
      <vt:lpstr>Facet</vt:lpstr>
      <vt:lpstr>IDENTIFYING LOSS-MAKING PRODUCTS USING SALES DATA</vt:lpstr>
      <vt:lpstr>Problem Statement </vt:lpstr>
      <vt:lpstr>Project Objectives </vt:lpstr>
      <vt:lpstr>Dataset Description </vt:lpstr>
      <vt:lpstr>Problems Identified and Solutions</vt:lpstr>
      <vt:lpstr>Methodology </vt:lpstr>
      <vt:lpstr>Excel Dashboard </vt:lpstr>
      <vt:lpstr>Key Findings and Insights </vt:lpstr>
      <vt:lpstr>Recommendations </vt:lpstr>
      <vt:lpstr>Conclusion </vt:lpstr>
      <vt:lpstr> 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Akshidha S</dc:creator>
  <cp:lastModifiedBy>Akshidha S</cp:lastModifiedBy>
  <cp:revision>1</cp:revision>
  <dcterms:created xsi:type="dcterms:W3CDTF">2026-10-26T13:04:55Z</dcterms:created>
  <dcterms:modified xsi:type="dcterms:W3CDTF">2026-10-26T23:01:51Z</dcterms:modified>
</cp:coreProperties>
</file>